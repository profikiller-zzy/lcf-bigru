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开场强调这不是完全推翻 LCF，而是基于 LCF 的 residual-delta 信号做序列建模增强。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这一页建立为什么 hidden-state based 检测有价值。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引用项目 README 和 runtime_control/multilayer.py 的实现逻辑。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这里讲 δ_l 是向量，为后面 BiGRU 输入选择埋伏笔。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这页铺垫 s_l 是 LCF 主输入，而 BiGRU 可以选择 s_l 或 z_l。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强调用户提到的 per-model threshold 是后续 BiGRU 设计的关键。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这里给导师传递 feasibility：不是空想，数据和特征提取都已有。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这页是转折页，要讲得谨慎：LCF 已有效，但还有序列建模空间。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BiGRU 的归纳偏置适合短层序列、小样本、全层可见。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这一页给出具体设计选择：z_l 的低维投影 + s_l。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导师可能会问数据少，这里承认是 MVP，并通过 holdout 泛化设计提高说服力。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收束：不是要立刻证明完全优于 LCF，而是提出一个清晰可验证的创新假设。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7239000" y="-1333500"/>
            <a:ext cx="5905500" cy="5905500"/>
          </a:xfrm>
          <a:prstGeom prst="ellipse">
            <a:avLst/>
          </a:prstGeom>
          <a:solidFill>
            <a:srgbClr val="18A999">
              <a:alpha val="2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714500" y="4000500"/>
            <a:ext cx="4381500" cy="4381500"/>
          </a:xfrm>
          <a:prstGeom prst="ellipse">
            <a:avLst/>
          </a:prstGeom>
          <a:solidFill>
            <a:srgbClr val="F28C28">
              <a:alpha val="1803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381875" y="18097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3366CC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591425" y="2038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18A999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800975" y="22669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3366CC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8010525" y="24955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18A999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220075" y="27241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3366CC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429625" y="29527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18A999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8639175" y="3181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3366CC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8848725" y="34099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18A999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58275" y="36385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3366CC">
              <a:alpha val="20000"/>
            </a:srgbClr>
          </a:solidFill>
          <a:ln w="9525">
            <a:solidFill>
              <a:srgbClr val="FFFFFF">
                <a:alpha val="27843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1085850"/>
            <a:ext cx="638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从 LCF 到 BiGRU</a:t>
            </a:r>
            <a:endParaRPr sz="3300" b="1">
              <a:solidFill>
                <a:srgbClr val="FFFFFF"/>
              </a:solidFill>
            </a:endParaRPr>
          </a:p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轨迹增强检测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" y="2781300"/>
            <a:ext cx="666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DDE7EE"/>
                </a:solidFill>
              </a:defRPr>
            </a:pPr>
            <a:r>
              <a:rPr sz="1650" b="0">
                <a:solidFill>
                  <a:srgbClr val="DDE7EE"/>
                </a:solidFill>
              </a:rPr>
              <a:t>Layerwise Convergence Fingerprints 的方法复述与创新扩展设想</a:t>
            </a:r>
            <a:endParaRPr sz="1650" b="0">
              <a:solidFill>
                <a:srgbClr val="DDE7EE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7700" y="36385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8A999">
              <a:alpha val="12941"/>
            </a:srgbClr>
          </a:solidFill>
          <a:ln w="11430">
            <a:solidFill>
              <a:srgbClr val="18A99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3705225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越狱提示检测</a:t>
            </a:r>
            <a:endParaRPr sz="975" b="1">
              <a:solidFill>
                <a:srgbClr val="18A999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247900" y="36385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F28C28">
              <a:alpha val="12941"/>
            </a:srgbClr>
          </a:solidFill>
          <a:ln w="11430">
            <a:solidFill>
              <a:srgbClr val="F28C2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381250" y="3705225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残差流差分</a:t>
            </a:r>
            <a:endParaRPr sz="975" b="1">
              <a:solidFill>
                <a:srgbClr val="F28C28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848100" y="3638550"/>
            <a:ext cx="1657350" cy="323850"/>
          </a:xfrm>
          <a:prstGeom prst="roundRect">
            <a:avLst>
              <a:gd name="adj" fmla="val 23529"/>
            </a:avLst>
          </a:prstGeom>
          <a:solidFill>
            <a:srgbClr val="3366CC">
              <a:alpha val="12941"/>
            </a:srgbClr>
          </a:solidFill>
          <a:ln w="11430">
            <a:solidFill>
              <a:srgbClr val="3366C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981450" y="3705225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3366CC"/>
                </a:solidFill>
              </a:defRPr>
            </a:pPr>
            <a:r>
              <a:rPr sz="975" b="1">
                <a:solidFill>
                  <a:srgbClr val="3366CC"/>
                </a:solidFill>
              </a:rPr>
              <a:t>跨层轨迹建模</a:t>
            </a:r>
            <a:endParaRPr sz="975" b="1">
              <a:solidFill>
                <a:srgbClr val="3366C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" y="468630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EEF4F8"/>
                </a:solidFill>
              </a:defRPr>
            </a:pPr>
            <a:r>
              <a:rPr sz="1500" b="0">
                <a:solidFill>
                  <a:srgbClr val="EEF4F8"/>
                </a:solidFill>
              </a:rPr>
              <a:t>汇报目标：讲清 LCF 的检测链路，并自然引出 BiGRU 作为对“层间计算轨迹”的显式建模模块。</a:t>
            </a:r>
            <a:endParaRPr sz="1500" b="0">
              <a:solidFill>
                <a:srgbClr val="EEF4F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" y="61722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FB4C5"/>
                </a:solidFill>
              </a:defRPr>
            </a:pPr>
            <a:r>
              <a:rPr sz="975" b="0">
                <a:solidFill>
                  <a:srgbClr val="9FB4C5"/>
                </a:solidFill>
              </a:rPr>
              <a:t>导师汇报草案</a:t>
            </a:r>
            <a:endParaRPr sz="975" b="0">
              <a:solidFill>
                <a:srgbClr val="9FB4C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问题背景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02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流利越狱提示的难点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AutoDAN、PAIR 等攻击表面自然，异常未必在文本层面显著；更可靠的信号可能藏在模型内部计算过程中。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29527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952750"/>
            <a:ext cx="76200" cy="209550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162300"/>
            <a:ext cx="2686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表面语言正常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543300"/>
            <a:ext cx="26860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PAIR / AutoDAN 往往用合理语气、情境包装、免责声明或角色设定完成绕过。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14850" y="29527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14850" y="2952750"/>
            <a:ext cx="76200" cy="20955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43450" y="3162300"/>
            <a:ext cx="2686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输出前检测困难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43450" y="3543300"/>
            <a:ext cx="26860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如果等到模型已经生成危险内容再拦截，风险和延迟都更高；运行时检测应尽量发生在 prefill 后。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43900" y="29527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43900" y="2952750"/>
            <a:ext cx="76200" cy="209550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572500" y="3162300"/>
            <a:ext cx="2686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内部轨迹可能异常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0" y="3543300"/>
            <a:ext cx="26860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即便文本流利，提示词仍可能诱导模型在中间层发生意图重定向和安全边界偏移。</a:t>
            </a:r>
            <a:endParaRPr sz="1275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LCF 核心洞察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03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LCF：把每层 residual stream 的收敛行为当作指纹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同一个模型面对良性提示时，各层残差流差分会形成稳定的正常分布；异常提示会偏离这个分布。</a:t>
            </a:r>
            <a:endParaRPr sz="1425" b="0">
              <a:solidFill>
                <a:srgbClr val="5B6773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419350"/>
            <a:ext cx="8597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LCF 特征提取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04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第一步：从 hidden states 得到层间差分序列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LCF 不直接看每层 h_l 的绝对值，而看 residual stream 在相邻层之间的变化。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02895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3366CC">
              <a:alpha val="12157"/>
            </a:srgbClr>
          </a:solidFill>
          <a:ln w="13335">
            <a:solidFill>
              <a:srgbClr val="3366C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581150" y="3219450"/>
            <a:ext cx="85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3366CC"/>
                </a:solidFill>
              </a:defRPr>
            </a:pPr>
            <a:r>
              <a:rPr sz="1950" b="1">
                <a:solidFill>
                  <a:srgbClr val="3366CC"/>
                </a:solidFill>
              </a:rPr>
              <a:t>hₗ</a:t>
            </a:r>
            <a:endParaRPr sz="1950" b="1">
              <a:solidFill>
                <a:srgbClr val="3366C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648200" y="302895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18A999">
              <a:alpha val="12157"/>
            </a:srgbClr>
          </a:solidFill>
          <a:ln w="13335">
            <a:solidFill>
              <a:srgbClr val="18A99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19700" y="3219450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18A999"/>
                </a:solidFill>
              </a:defRPr>
            </a:pPr>
            <a:r>
              <a:rPr sz="1950" b="1">
                <a:solidFill>
                  <a:srgbClr val="18A999"/>
                </a:solidFill>
              </a:rPr>
              <a:t>hₗ₊₁</a:t>
            </a:r>
            <a:endParaRPr sz="1950" b="1">
              <a:solidFill>
                <a:srgbClr val="18A999"/>
              </a:solidFill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3143250" y="3341370"/>
            <a:ext cx="1485900" cy="142875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33750" y="304800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B6773"/>
                </a:solidFill>
              </a:defRPr>
            </a:pPr>
            <a:r>
              <a:rPr sz="1125" b="0">
                <a:solidFill>
                  <a:srgbClr val="5B6773"/>
                </a:solidFill>
              </a:rPr>
              <a:t>相邻层变换</a:t>
            </a:r>
            <a:endParaRPr sz="1125" b="0">
              <a:solidFill>
                <a:srgbClr val="5B677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01000" y="2857500"/>
            <a:ext cx="2952750" cy="1047750"/>
          </a:xfrm>
          <a:prstGeom prst="roundRect">
            <a:avLst>
              <a:gd name="adj" fmla="val 7273"/>
            </a:avLst>
          </a:prstGeom>
          <a:solidFill>
            <a:srgbClr val="F28C28">
              <a:alpha val="14902"/>
            </a:srgbClr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312420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F28C28"/>
                </a:solidFill>
              </a:defRPr>
            </a:pPr>
            <a:r>
              <a:rPr sz="1950" b="1">
                <a:solidFill>
                  <a:srgbClr val="F28C28"/>
                </a:solidFill>
              </a:rPr>
              <a:t>δₗ = hₗ₊₁ - hₗ</a:t>
            </a:r>
            <a:endParaRPr sz="1950" b="1">
              <a:solidFill>
                <a:srgbClr val="F28C2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3543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B6773"/>
                </a:solidFill>
              </a:defRPr>
            </a:pPr>
            <a:r>
              <a:rPr sz="1125" b="0">
                <a:solidFill>
                  <a:srgbClr val="5B6773"/>
                </a:solidFill>
              </a:rPr>
              <a:t>每层一个向量</a:t>
            </a:r>
            <a:endParaRPr sz="1125" b="0">
              <a:solidFill>
                <a:srgbClr val="5B6773"/>
              </a:solidFill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6858000" y="3341370"/>
            <a:ext cx="1143000" cy="142875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47750" y="4762500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7750" y="4762500"/>
            <a:ext cx="76200" cy="112395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76350" y="4972050"/>
            <a:ext cx="411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实现位置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76350" y="5353050"/>
            <a:ext cx="411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项目中 collect_deltas / collect_all_layer_deltas 已经用 output_hidden_states=True 提取 δₗ。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362700" y="4762500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362700" y="4762500"/>
            <a:ext cx="76200" cy="11239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91300" y="4972050"/>
            <a:ext cx="411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关键取样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91300" y="5353050"/>
            <a:ext cx="411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当前 LCF 实现使用最后 token 位置的 hₗ₊₁ - hₗ，覆盖所有 Transformer 层。</a:t>
            </a:r>
            <a:endParaRPr sz="1200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LCF 打分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05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第二步：把向量差分转成每层异常强度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每层用良性校准集估计 μₗ 与 σₗ，再把 δₗ 标准化并取 L2 范数。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" y="2343150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6479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474"/>
          </a:bodyPr>
          <a:lstStyle/>
          <a:p>
            <a:pPr algn="ctr">
              <a:defRPr sz="2100" b="1">
                <a:solidFill>
                  <a:srgbClr val="3366CC"/>
                </a:solidFill>
              </a:defRPr>
            </a:pPr>
            <a:r>
              <a:rPr sz="2100" b="1">
                <a:solidFill>
                  <a:srgbClr val="3366CC"/>
                </a:solidFill>
              </a:rPr>
              <a:t>zₗ = (δₗ - μₗ) / σₗ</a:t>
            </a:r>
            <a:endParaRPr sz="2100" b="1">
              <a:solidFill>
                <a:srgbClr val="3366C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19250" y="312420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773"/>
                </a:solidFill>
              </a:defRPr>
            </a:pPr>
            <a:r>
              <a:rPr sz="1275" b="0">
                <a:solidFill>
                  <a:srgbClr val="5B6773"/>
                </a:solidFill>
              </a:rPr>
              <a:t>标准化后的 residual-delta 向量</a:t>
            </a:r>
            <a:endParaRPr sz="1275" b="0">
              <a:solidFill>
                <a:srgbClr val="5B677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534150" y="2343150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581900" y="26479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474"/>
          </a:bodyPr>
          <a:lstStyle/>
          <a:p>
            <a:pPr algn="ctr">
              <a:defRPr sz="2100" b="1">
                <a:solidFill>
                  <a:srgbClr val="F28C28"/>
                </a:solidFill>
              </a:defRPr>
            </a:pPr>
            <a:r>
              <a:rPr sz="2100" b="1">
                <a:solidFill>
                  <a:srgbClr val="F28C28"/>
                </a:solidFill>
              </a:rPr>
              <a:t>sₗ = || zₗ ||₂</a:t>
            </a:r>
            <a:endParaRPr sz="2100" b="1">
              <a:solidFill>
                <a:srgbClr val="F28C2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39050" y="31242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773"/>
                </a:solidFill>
              </a:defRPr>
            </a:pPr>
            <a:r>
              <a:rPr sz="1275" b="0">
                <a:solidFill>
                  <a:srgbClr val="5B6773"/>
                </a:solidFill>
              </a:rPr>
              <a:t>每层一个标量异常强度</a:t>
            </a:r>
            <a:endParaRPr sz="1275" b="0">
              <a:solidFill>
                <a:srgbClr val="5B6773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638800" y="3007995"/>
            <a:ext cx="895350" cy="142875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38300" y="4972050"/>
            <a:ext cx="266700" cy="34290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152650" y="4829175"/>
            <a:ext cx="266700" cy="485775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67000" y="4686300"/>
            <a:ext cx="266700" cy="62865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181350" y="4543425"/>
            <a:ext cx="266700" cy="771525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695700" y="4400550"/>
            <a:ext cx="266700" cy="91440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210050" y="4972050"/>
            <a:ext cx="266700" cy="34290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24400" y="4829175"/>
            <a:ext cx="266700" cy="485775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38750" y="4171950"/>
            <a:ext cx="266700" cy="11430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53100" y="4543425"/>
            <a:ext cx="266700" cy="771525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67450" y="4400550"/>
            <a:ext cx="266700" cy="91440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781800" y="4972050"/>
            <a:ext cx="266700" cy="342900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96150" y="4829175"/>
            <a:ext cx="266700" cy="485775"/>
          </a:xfrm>
          <a:prstGeom prst="rect">
            <a:avLst/>
          </a:prstGeom>
          <a:solidFill>
            <a:srgbClr val="18A999">
              <a:alpha val="6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429000" y="56388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[s₀, s₁, ..., sₗ₋₁]</a:t>
            </a:r>
            <a:endParaRPr sz="1650" b="1">
              <a:solidFill>
                <a:srgbClr val="17212B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353300" y="44958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353300" y="4495800"/>
            <a:ext cx="76200" cy="13525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581900" y="4705350"/>
            <a:ext cx="2971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聚合方式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81900" y="5086350"/>
            <a:ext cx="2971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LCF 将 per-layer score 向量再做 z-score，并用 Ledoit-Wolf Mahalanobis 得到整体异常分数。</a:t>
            </a:r>
            <a:endParaRPr sz="1200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阈值校准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06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第三步：每个模型单独校准阈值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LCF 的判断不是跨模型比较绝对分数，而是看分数是否超过该模型自己的 benign 阈值。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2762250"/>
            <a:ext cx="30289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762250"/>
            <a:ext cx="76200" cy="180975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9718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校准集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352800"/>
            <a:ext cx="2571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每个模型取 200 条良性提示；只用于估计正常分布和阈值。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72000" y="2762250"/>
            <a:ext cx="30289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72000" y="2762250"/>
            <a:ext cx="76200" cy="18097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29718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Leave-one-out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00600" y="3352800"/>
            <a:ext cx="2571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对校准样本做 LOO 评分，得到 clean score 分布。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401050" y="2762250"/>
            <a:ext cx="30289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762250"/>
            <a:ext cx="76200" cy="18097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29650" y="29718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阈值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29650" y="3352800"/>
            <a:ext cx="2571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threshold = percentile(loo_scores, 90)，并设置下限至少 1.0。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3790950" y="3619500"/>
            <a:ext cx="781050" cy="119063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右箭头 22"/>
          <p:cNvSpPr>
            <a:spLocks noGrp="1"/>
          </p:cNvSpPr>
          <p:nvPr/>
        </p:nvSpPr>
        <p:spPr>
          <a:xfrm>
            <a:off x="7620000" y="3619500"/>
            <a:ext cx="781050" cy="119063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2247900" y="5257800"/>
            <a:ext cx="7734300" cy="590550"/>
          </a:xfrm>
          <a:prstGeom prst="roundRect">
            <a:avLst>
              <a:gd name="adj" fmla="val 12903"/>
            </a:avLst>
          </a:prstGeom>
          <a:solidFill>
            <a:srgbClr val="18A999">
              <a:alpha val="12157"/>
            </a:srgbClr>
          </a:solidFill>
          <a:ln w="11430">
            <a:solidFill>
              <a:srgbClr val="18A99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609850" y="5438775"/>
            <a:ext cx="701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002"/>
          </a:bodyPr>
          <a:lstStyle/>
          <a:p>
            <a:pPr algn="ctr">
              <a:defRPr sz="1500" b="1">
                <a:solidFill>
                  <a:srgbClr val="08756C"/>
                </a:solidFill>
              </a:defRPr>
            </a:pPr>
            <a:r>
              <a:rPr sz="1500" b="1">
                <a:solidFill>
                  <a:srgbClr val="08756C"/>
                </a:solidFill>
              </a:rPr>
              <a:t>结论：BiGRU 后续也应该沿用“每模型 benign calibration threshold”，而不是固定 0.5。</a:t>
            </a:r>
            <a:endParaRPr sz="1500" b="1">
              <a:solidFill>
                <a:srgbClr val="08756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现有基础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07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当前项目已足够支撑 BiGRU 最小复现实验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lang="zh-CN" sz="1425" b="0">
                <a:solidFill>
                  <a:srgbClr val="5B6773"/>
                </a:solidFill>
              </a:rPr>
              <a:t>可以基于当前仓库中</a:t>
            </a:r>
            <a:r>
              <a:rPr sz="1425" b="0">
                <a:solidFill>
                  <a:srgbClr val="5B6773"/>
                </a:solidFill>
              </a:rPr>
              <a:t> δ_l 提取逻辑、良性校准数据和多类越狱测试集。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80035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971800"/>
            <a:ext cx="1276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28C28"/>
                </a:solidFill>
              </a:defRPr>
            </a:pPr>
            <a:r>
              <a:rPr sz="2250" b="1">
                <a:solidFill>
                  <a:srgbClr val="F28C28"/>
                </a:solidFill>
              </a:rPr>
              <a:t>200</a:t>
            </a:r>
            <a:endParaRPr sz="2250" b="1">
              <a:solidFill>
                <a:srgbClr val="F28C2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3909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B6773"/>
                </a:solidFill>
              </a:defRPr>
            </a:pPr>
            <a:r>
              <a:rPr sz="1050" b="0">
                <a:solidFill>
                  <a:srgbClr val="5B6773"/>
                </a:solidFill>
              </a:rPr>
              <a:t>GCG 越狱样本</a:t>
            </a:r>
            <a:endParaRPr sz="1050" b="0">
              <a:solidFill>
                <a:srgbClr val="5B677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762250" y="280035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E6EB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33700" y="2971800"/>
            <a:ext cx="1276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69</a:t>
            </a:r>
            <a:endParaRPr sz="2250" b="1">
              <a:solidFill>
                <a:srgbClr val="18A99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33909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B6773"/>
                </a:solidFill>
              </a:defRPr>
            </a:pPr>
            <a:r>
              <a:rPr sz="1050" b="0">
                <a:solidFill>
                  <a:srgbClr val="5B6773"/>
                </a:solidFill>
              </a:rPr>
              <a:t>PAIR 越狱样本</a:t>
            </a:r>
            <a:endParaRPr sz="1050" b="0">
              <a:solidFill>
                <a:srgbClr val="5B677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648200" y="280035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E6EBF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819650" y="2971800"/>
            <a:ext cx="1276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3366CC"/>
                </a:solidFill>
              </a:defRPr>
            </a:pPr>
            <a:r>
              <a:rPr sz="2250" b="1">
                <a:solidFill>
                  <a:srgbClr val="3366CC"/>
                </a:solidFill>
              </a:rPr>
              <a:t>100</a:t>
            </a:r>
            <a:endParaRPr sz="2250" b="1">
              <a:solidFill>
                <a:srgbClr val="3366C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19650" y="33909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B6773"/>
                </a:solidFill>
              </a:defRPr>
            </a:pPr>
            <a:r>
              <a:rPr sz="1050" b="0">
                <a:solidFill>
                  <a:srgbClr val="5B6773"/>
                </a:solidFill>
              </a:rPr>
              <a:t>DAN / Roleplay</a:t>
            </a:r>
            <a:endParaRPr sz="1050" b="0">
              <a:solidFill>
                <a:srgbClr val="5B677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534150" y="280035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E6EB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705600" y="2971800"/>
            <a:ext cx="1276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FA866"/>
                </a:solidFill>
              </a:defRPr>
            </a:pPr>
            <a:r>
              <a:rPr sz="2250" b="1">
                <a:solidFill>
                  <a:srgbClr val="2FA866"/>
                </a:solidFill>
              </a:rPr>
              <a:t>200</a:t>
            </a:r>
            <a:endParaRPr sz="2250" b="1">
              <a:solidFill>
                <a:srgbClr val="2FA86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705600" y="33909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B6773"/>
                </a:solidFill>
              </a:defRPr>
            </a:pPr>
            <a:r>
              <a:rPr sz="1050" b="0">
                <a:solidFill>
                  <a:srgbClr val="5B6773"/>
                </a:solidFill>
              </a:rPr>
              <a:t>clean refusal</a:t>
            </a:r>
            <a:endParaRPr sz="1050" b="0">
              <a:solidFill>
                <a:srgbClr val="5B677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20100" y="280035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E6EB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91550" y="2971800"/>
            <a:ext cx="1276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FA866"/>
                </a:solidFill>
              </a:defRPr>
            </a:pPr>
            <a:r>
              <a:rPr sz="2250" b="1">
                <a:solidFill>
                  <a:srgbClr val="2FA866"/>
                </a:solidFill>
              </a:rPr>
              <a:t>200</a:t>
            </a:r>
            <a:endParaRPr sz="2250" b="1">
              <a:solidFill>
                <a:srgbClr val="2FA86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91550" y="33909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B6773"/>
                </a:solidFill>
              </a:defRPr>
            </a:pPr>
            <a:r>
              <a:rPr sz="1050" b="0">
                <a:solidFill>
                  <a:srgbClr val="5B6773"/>
                </a:solidFill>
              </a:rPr>
              <a:t>clean negsentiment</a:t>
            </a:r>
            <a:endParaRPr sz="1050" b="0">
              <a:solidFill>
                <a:srgbClr val="5B677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47750" y="4572000"/>
            <a:ext cx="4524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47750" y="4572000"/>
            <a:ext cx="76200" cy="121920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76350" y="4781550"/>
            <a:ext cx="40671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已有 LCF 结果示例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76350" y="5162550"/>
            <a:ext cx="40671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Qwen2.5-7B-Instruct 上：GCG 88.5%，PAIR 87.0%，DAN/Roleplay 100%，clean FPR 10%。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572250" y="4572000"/>
            <a:ext cx="4524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572250" y="4572000"/>
            <a:ext cx="76200" cy="12192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800850" y="4781550"/>
            <a:ext cx="40671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缺口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00850" y="5162550"/>
            <a:ext cx="40671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仓库未包含 AutoDAN 数据；MVP 可先验证 GCG/DAN 训练、PAIR holdout 泛化。</a:t>
            </a:r>
            <a:endParaRPr sz="1275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LCF 的盲区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08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LCF 强在统计偏离，但没有显式建模轨迹演化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LCF 主要回答“每层偏离多远、整体是否偏离”；但流利越狱可能体现为层间动态模式。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23900" y="285750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857500"/>
            <a:ext cx="76200" cy="200025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06705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层顺序利用有限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448050"/>
            <a:ext cx="2781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Mahalanobis 聚合看到固定维度向量，但没有递归地解释前后层转变是否自然。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476750" y="285750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76750" y="2857500"/>
            <a:ext cx="76200" cy="20002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05350" y="306705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方向信息被压缩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3448050"/>
            <a:ext cx="2781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sₗ = ||zₗ||₂ 只保留偏离强度，丢掉 zₗ 的方向演化。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229600" y="285750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29600" y="2857500"/>
            <a:ext cx="76200" cy="2000250"/>
          </a:xfrm>
          <a:prstGeom prst="rect">
            <a:avLst/>
          </a:prstGeom>
          <a:solidFill>
            <a:srgbClr val="D953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306705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非线性模式不足</a:t>
            </a:r>
            <a:endParaRPr sz="1275" b="1">
              <a:solidFill>
                <a:srgbClr val="D9534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58200" y="3448050"/>
            <a:ext cx="27813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渐进偏移、阶段性异常、补偿式异常不一定能被二阶统计距离充分表达。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56197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8756C"/>
                </a:solidFill>
              </a:defRPr>
            </a:pPr>
            <a:r>
              <a:rPr sz="1575" b="1">
                <a:solidFill>
                  <a:srgbClr val="08756C"/>
                </a:solidFill>
              </a:rPr>
              <a:t>这不是否定 LCF，而是给出一个自然增强点：把 layerwise fingerprint 当作计算轨迹来建模。</a:t>
            </a:r>
            <a:endParaRPr sz="1575" b="1">
              <a:solidFill>
                <a:srgbClr val="08756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引入 BiGRU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09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BiGRU 的意义：从静态指纹到计算轨迹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BiGRU 不是为了增加复杂度，而是显式学习层间 residual-delta 序列的上下文依赖。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00150" y="3448050"/>
            <a:ext cx="342900" cy="342900"/>
          </a:xfrm>
          <a:prstGeom prst="ellipse">
            <a:avLst/>
          </a:prstGeom>
          <a:solidFill>
            <a:srgbClr val="18A999">
              <a:alpha val="70196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038350" y="3759695"/>
            <a:ext cx="342900" cy="342900"/>
          </a:xfrm>
          <a:prstGeom prst="ellipse">
            <a:avLst/>
          </a:prstGeom>
          <a:solidFill>
            <a:srgbClr val="18A999">
              <a:alpha val="70196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1543050" y="3581400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2876550" y="3904105"/>
            <a:ext cx="342900" cy="342900"/>
          </a:xfrm>
          <a:prstGeom prst="ellipse">
            <a:avLst/>
          </a:prstGeom>
          <a:solidFill>
            <a:srgbClr val="18A999">
              <a:alpha val="70196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右箭头 13"/>
          <p:cNvSpPr>
            <a:spLocks noGrp="1"/>
          </p:cNvSpPr>
          <p:nvPr/>
        </p:nvSpPr>
        <p:spPr>
          <a:xfrm>
            <a:off x="2381250" y="3893045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3714750" y="3803785"/>
            <a:ext cx="342900" cy="342900"/>
          </a:xfrm>
          <a:prstGeom prst="ellipse">
            <a:avLst/>
          </a:prstGeom>
          <a:solidFill>
            <a:srgbClr val="18A999">
              <a:alpha val="70196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右箭头 15"/>
          <p:cNvSpPr>
            <a:spLocks noGrp="1"/>
          </p:cNvSpPr>
          <p:nvPr/>
        </p:nvSpPr>
        <p:spPr>
          <a:xfrm>
            <a:off x="3219450" y="3937135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4552950" y="3512570"/>
            <a:ext cx="342900" cy="342900"/>
          </a:xfrm>
          <a:prstGeom prst="ellipse">
            <a:avLst/>
          </a:prstGeom>
          <a:solidFill>
            <a:srgbClr val="F28C28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4057650" y="3645920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5391150" y="3186732"/>
            <a:ext cx="342900" cy="342900"/>
          </a:xfrm>
          <a:prstGeom prst="ellipse">
            <a:avLst/>
          </a:prstGeom>
          <a:solidFill>
            <a:srgbClr val="F28C28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4895850" y="3320082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6229350" y="3001123"/>
            <a:ext cx="342900" cy="342900"/>
          </a:xfrm>
          <a:prstGeom prst="ellipse">
            <a:avLst/>
          </a:prstGeom>
          <a:solidFill>
            <a:srgbClr val="F28C28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5734050" y="3134473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7067550" y="3055345"/>
            <a:ext cx="342900" cy="342900"/>
          </a:xfrm>
          <a:prstGeom prst="ellipse">
            <a:avLst/>
          </a:prstGeom>
          <a:solidFill>
            <a:srgbClr val="F28C28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右箭头 23"/>
          <p:cNvSpPr>
            <a:spLocks noGrp="1"/>
          </p:cNvSpPr>
          <p:nvPr/>
        </p:nvSpPr>
        <p:spPr>
          <a:xfrm>
            <a:off x="6572250" y="3134473"/>
            <a:ext cx="495300" cy="9525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40957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x₀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229100" y="4810125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xₗ = concat(projected zₗ, sₗ)</a:t>
            </a:r>
            <a:endParaRPr sz="1500" b="1">
              <a:solidFill>
                <a:srgbClr val="17212B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039100" y="2590800"/>
            <a:ext cx="30099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39100" y="2590800"/>
            <a:ext cx="76200" cy="112395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67700" y="28003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顺序结构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18135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结合此前层路径判断当前层。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039100" y="3981450"/>
            <a:ext cx="30099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39100" y="3981450"/>
            <a:ext cx="76200" cy="11239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267700" y="41910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双向上下文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67700" y="457200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47"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所有层已知，可同时利用浅层与深层信息</a:t>
            </a:r>
            <a:endParaRPr sz="1200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模块设计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10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8039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lang="zh-CN" sz="2700" b="1">
                <a:solidFill>
                  <a:srgbClr val="17212B"/>
                </a:solidFill>
              </a:rPr>
              <a:t>计划的改进</a:t>
            </a:r>
            <a:r>
              <a:rPr sz="2700" b="1">
                <a:solidFill>
                  <a:srgbClr val="17212B"/>
                </a:solidFill>
              </a:rPr>
              <a:t>：Hybrid 输入 + BiGRU + 每模型校准阈值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先保留 LCF 的 clean normalization，再让 BiGRU 学习跨层动态。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62000" y="302895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3366CC">
              <a:alpha val="12941"/>
            </a:srgbClr>
          </a:solidFill>
          <a:ln w="12383">
            <a:solidFill>
              <a:srgbClr val="3366C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2766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3366CC"/>
                </a:solidFill>
              </a:defRPr>
            </a:pPr>
            <a:r>
              <a:rPr sz="1500" b="1">
                <a:solidFill>
                  <a:srgbClr val="3366CC"/>
                </a:solidFill>
              </a:rPr>
              <a:t>δₗ</a:t>
            </a:r>
            <a:endParaRPr sz="1500" b="1">
              <a:solidFill>
                <a:srgbClr val="3366C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6004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原始层间差分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819400" y="302895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3366CC">
              <a:alpha val="12941"/>
            </a:srgbClr>
          </a:solidFill>
          <a:ln w="12383">
            <a:solidFill>
              <a:srgbClr val="3366C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52750" y="32766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3366CC"/>
                </a:solidFill>
              </a:defRPr>
            </a:pPr>
            <a:r>
              <a:rPr sz="1500" b="1">
                <a:solidFill>
                  <a:srgbClr val="3366CC"/>
                </a:solidFill>
              </a:rPr>
              <a:t>zₗ</a:t>
            </a:r>
            <a:endParaRPr sz="1500" b="1">
              <a:solidFill>
                <a:srgbClr val="3366C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36004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clean 标准化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2419350" y="3486150"/>
            <a:ext cx="400050" cy="11430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876800" y="302895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F28C28">
              <a:alpha val="12941"/>
            </a:srgbClr>
          </a:solidFill>
          <a:ln w="12383">
            <a:solidFill>
              <a:srgbClr val="F28C2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10150" y="32766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projected zₗ + sₗ</a:t>
            </a:r>
            <a:endParaRPr sz="1500" b="1">
              <a:solidFill>
                <a:srgbClr val="F28C2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91100" y="36004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低维方向 + 强度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4476750" y="3486150"/>
            <a:ext cx="400050" cy="11430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6934200" y="302895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18A999">
              <a:alpha val="12941"/>
            </a:srgbClr>
          </a:solidFill>
          <a:ln w="12383">
            <a:solidFill>
              <a:srgbClr val="18A99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67550" y="32766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BiGRU</a:t>
            </a:r>
            <a:endParaRPr sz="1500" b="1">
              <a:solidFill>
                <a:srgbClr val="18A999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0" y="36004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双向轨迹编码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6534150" y="3486150"/>
            <a:ext cx="400050" cy="11430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991600" y="3028950"/>
            <a:ext cx="1619250" cy="990600"/>
          </a:xfrm>
          <a:prstGeom prst="roundRect">
            <a:avLst>
              <a:gd name="adj" fmla="val 7692"/>
            </a:avLst>
          </a:prstGeom>
          <a:solidFill>
            <a:srgbClr val="2FA866">
              <a:alpha val="12941"/>
            </a:srgbClr>
          </a:solidFill>
          <a:ln w="12383">
            <a:solidFill>
              <a:srgbClr val="2FA86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24950" y="32766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2FA866"/>
                </a:solidFill>
              </a:defRPr>
            </a:pPr>
            <a:r>
              <a:rPr sz="1500" b="1">
                <a:solidFill>
                  <a:srgbClr val="2FA866"/>
                </a:solidFill>
              </a:rPr>
              <a:t>score</a:t>
            </a:r>
            <a:endParaRPr sz="1500" b="1">
              <a:solidFill>
                <a:srgbClr val="2FA866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05900" y="36004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5B6773"/>
                </a:solidFill>
              </a:defRPr>
            </a:pPr>
            <a:r>
              <a:rPr sz="900" b="0">
                <a:solidFill>
                  <a:srgbClr val="5B6773"/>
                </a:solidFill>
              </a:rPr>
              <a:t>异常概率/分数</a:t>
            </a:r>
            <a:endParaRPr sz="900" b="0">
              <a:solidFill>
                <a:srgbClr val="5B6773"/>
              </a:solidFill>
            </a:endParaRPr>
          </a:p>
        </p:txBody>
      </p:sp>
      <p:sp>
        <p:nvSpPr>
          <p:cNvPr id="28" name="右箭头 27"/>
          <p:cNvSpPr>
            <a:spLocks noGrp="1"/>
          </p:cNvSpPr>
          <p:nvPr/>
        </p:nvSpPr>
        <p:spPr>
          <a:xfrm>
            <a:off x="8591550" y="3486150"/>
            <a:ext cx="400050" cy="114300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47750" y="4781550"/>
            <a:ext cx="42672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4781550"/>
            <a:ext cx="76200" cy="1123950"/>
          </a:xfrm>
          <a:prstGeom prst="rect">
            <a:avLst/>
          </a:prstGeom>
          <a:solidFill>
            <a:srgbClr val="D953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76350" y="49911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为什么不直接用 δₗ</a:t>
            </a:r>
            <a:endParaRPr sz="1275" b="1">
              <a:solidFill>
                <a:srgbClr val="D9534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76350" y="5372100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484"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维度高、尺度跨模型差异大、200 条校准集不足以稳定训练。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191250" y="4781550"/>
            <a:ext cx="42672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191250" y="4781550"/>
            <a:ext cx="76200" cy="11239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19850" y="49911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为什么不只用 sₗ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19850" y="5372100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稳定但丢失方向信息；hybrid 输入能同时保留偏离强度与轨迹方向。</a:t>
            </a:r>
            <a:endParaRPr sz="1200" b="0">
              <a:solidFill>
                <a:srgbClr val="17212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MVP 实验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11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最小可复现实验：验证“流利越狱”的跨攻击泛化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现有数据已经可以支持第一版实验，重点不是追求大规模，而是验证 BiGRU 是否补充 LCF。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62000" y="2667000"/>
            <a:ext cx="2476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667000"/>
            <a:ext cx="76200" cy="209550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8765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训练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3257550"/>
            <a:ext cx="20193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benign + GCG + DAN / Roleplay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监督 BCE：benign=0，jailbreak=1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619500" y="2667000"/>
            <a:ext cx="2476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19500" y="2667000"/>
            <a:ext cx="76200" cy="209550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48100" y="28765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校准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48100" y="3257550"/>
            <a:ext cx="20193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每个 backbone model 取 200 条 benign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threshold = P90 / P95 / P99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77000" y="2667000"/>
            <a:ext cx="2476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2667000"/>
            <a:ext cx="76200" cy="209550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705600" y="28765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测试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705600" y="3257550"/>
            <a:ext cx="20193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PAIR holdout + clean test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报告 TPR@FPR、AUC、误报率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334500" y="2667000"/>
            <a:ext cx="2095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34500" y="2667000"/>
            <a:ext cx="76200" cy="2095500"/>
          </a:xfrm>
          <a:prstGeom prst="rect">
            <a:avLst/>
          </a:prstGeom>
          <a:solidFill>
            <a:srgbClr val="2FA8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63100" y="2876550"/>
            <a:ext cx="1638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2FA866"/>
                </a:solidFill>
              </a:defRPr>
            </a:pPr>
            <a:r>
              <a:rPr sz="1275" b="1">
                <a:solidFill>
                  <a:srgbClr val="2FA866"/>
                </a:solidFill>
              </a:rPr>
              <a:t>消融</a:t>
            </a:r>
            <a:endParaRPr sz="1275" b="1">
              <a:solidFill>
                <a:srgbClr val="2FA866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63100" y="3257550"/>
            <a:ext cx="16383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LCF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BiGRU(s_l)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BiGRU(z_l)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Hybrid</a:t>
            </a:r>
            <a:endParaRPr sz="1200" b="0">
              <a:solidFill>
                <a:srgbClr val="17212B"/>
              </a:solidFill>
            </a:endParaRPr>
          </a:p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Fusion</a:t>
            </a:r>
            <a:endParaRPr sz="1200" b="0">
              <a:solidFill>
                <a:srgbClr val="17212B"/>
              </a:solidFill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3257550" y="3676650"/>
            <a:ext cx="361950" cy="119063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右箭头 26"/>
          <p:cNvSpPr>
            <a:spLocks noGrp="1"/>
          </p:cNvSpPr>
          <p:nvPr/>
        </p:nvSpPr>
        <p:spPr>
          <a:xfrm>
            <a:off x="6115050" y="3676650"/>
            <a:ext cx="361950" cy="119063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8972550" y="3676650"/>
            <a:ext cx="361950" cy="119063"/>
          </a:xfrm>
          <a:prstGeom prst="rightArrow">
            <a:avLst/>
          </a:prstGeom>
          <a:solidFill>
            <a:srgbClr val="B7C3C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638300" y="5562600"/>
            <a:ext cx="891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8756C"/>
                </a:solidFill>
              </a:defRPr>
            </a:pPr>
            <a:r>
              <a:rPr sz="1575" b="1">
                <a:solidFill>
                  <a:srgbClr val="08756C"/>
                </a:solidFill>
              </a:rPr>
              <a:t>关键问题：BiGRU 是否能在 PAIR 这种流利越狱上提升 matched-FPR 下的检测率？</a:t>
            </a:r>
            <a:endParaRPr sz="1575" b="1">
              <a:solidFill>
                <a:srgbClr val="08756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>
            <a:spLocks noGrp="1"/>
          </p:cNvSpPr>
          <p:nvPr/>
        </p:nvSpPr>
        <p:spPr>
          <a:xfrm>
            <a:off x="9696450" y="-1143000"/>
            <a:ext cx="3429000" cy="3429000"/>
          </a:xfrm>
          <a:prstGeom prst="ellipse">
            <a:avLst/>
          </a:prstGeom>
          <a:solidFill>
            <a:srgbClr val="18A999">
              <a:alpha val="1294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857250" y="5219700"/>
            <a:ext cx="2476500" cy="2476500"/>
          </a:xfrm>
          <a:prstGeom prst="ellipse">
            <a:avLst/>
          </a:prstGeom>
          <a:solidFill>
            <a:srgbClr val="F28C28">
              <a:alpha val="1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857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预期贡献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20400" y="28575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08756C"/>
                </a:solidFill>
              </a:defRPr>
            </a:pPr>
            <a:r>
              <a:rPr sz="975" b="1">
                <a:solidFill>
                  <a:srgbClr val="08756C"/>
                </a:solidFill>
              </a:rPr>
              <a:t>12 / 12</a:t>
            </a:r>
            <a:endParaRPr sz="975" b="1">
              <a:solidFill>
                <a:srgbClr val="08756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609600"/>
            <a:ext cx="11163300" cy="19050"/>
          </a:xfrm>
          <a:prstGeom prst="rect">
            <a:avLst/>
          </a:prstGeom>
          <a:solidFill>
            <a:srgbClr val="E6EB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8382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创新点：Trajectory-aware LCF</a:t>
            </a:r>
            <a:endParaRPr sz="2700" b="1">
              <a:solidFill>
                <a:srgbClr val="1721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09750"/>
            <a:ext cx="7239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773"/>
                </a:solidFill>
              </a:defRPr>
            </a:pPr>
            <a:r>
              <a:rPr sz="1425" b="0">
                <a:solidFill>
                  <a:srgbClr val="5B6773"/>
                </a:solidFill>
              </a:rPr>
              <a:t>把 LCF 的 layerwise convergence fingerprint 从静态统计聚合扩展为跨层计算轨迹建模。</a:t>
            </a:r>
            <a:endParaRPr sz="1425" b="0">
              <a:solidFill>
                <a:srgbClr val="5B677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95350" y="2781300"/>
            <a:ext cx="30480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2781300"/>
            <a:ext cx="76200" cy="1885950"/>
          </a:xfrm>
          <a:prstGeom prst="rect">
            <a:avLst/>
          </a:prstGeom>
          <a:solidFill>
            <a:srgbClr val="336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2990850"/>
            <a:ext cx="2590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366CC"/>
                </a:solidFill>
              </a:defRPr>
            </a:pPr>
            <a:r>
              <a:rPr sz="1275" b="1">
                <a:solidFill>
                  <a:srgbClr val="3366CC"/>
                </a:solidFill>
              </a:rPr>
              <a:t>方法贡献</a:t>
            </a:r>
            <a:endParaRPr sz="1275" b="1">
              <a:solidFill>
                <a:srgbClr val="3366C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3371850"/>
            <a:ext cx="25908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在 LCF 的 δₗ / zₗ 基础上，引入轻量 BiGRU 学习层间动态模式。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72000" y="2781300"/>
            <a:ext cx="30480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72000" y="2781300"/>
            <a:ext cx="76200" cy="1885950"/>
          </a:xfrm>
          <a:prstGeom prst="rect">
            <a:avLst/>
          </a:prstGeom>
          <a:solidFill>
            <a:srgbClr val="F28C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2990850"/>
            <a:ext cx="2590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实验贡献</a:t>
            </a:r>
            <a:endParaRPr sz="1275" b="1">
              <a:solidFill>
                <a:srgbClr val="F28C2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00600" y="3371850"/>
            <a:ext cx="25908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用现有 GCG/DAN/PAIR 数据检验跨攻击泛化，尤其关注流利越狱。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248650" y="2781300"/>
            <a:ext cx="30480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1430">
            <a:solidFill>
              <a:srgbClr val="E6EB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48650" y="2781300"/>
            <a:ext cx="76200" cy="1885950"/>
          </a:xfrm>
          <a:prstGeom prst="rect">
            <a:avLst/>
          </a:prstGeom>
          <a:solidFill>
            <a:srgbClr val="18A9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77250" y="2990850"/>
            <a:ext cx="2590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部署一致性</a:t>
            </a:r>
            <a:endParaRPr sz="1275" b="1">
              <a:solidFill>
                <a:srgbClr val="18A99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77250" y="3371850"/>
            <a:ext cx="25908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沿用每模型 benign calibration threshold，避免跨模型绝对分数不可比。</a:t>
            </a:r>
            <a:endParaRPr sz="1275" b="0">
              <a:solidFill>
                <a:srgbClr val="17212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466850" y="5219700"/>
            <a:ext cx="9258300" cy="552450"/>
          </a:xfrm>
          <a:prstGeom prst="roundRect">
            <a:avLst>
              <a:gd name="adj" fmla="val 13793"/>
            </a:avLst>
          </a:prstGeom>
          <a:solidFill>
            <a:srgbClr val="101820">
              <a:alpha val="9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828800" y="5391150"/>
            <a:ext cx="853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下一步：实现特征缓存与 BiGRU 训练脚本，先跑 Hybrid vs LCF 的 PAIR holdout 对比。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CF BiGRU">
  <a:themeElements>
    <a:clrScheme name="LCF BiGRU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18A999"/>
      </a:accent1>
      <a:accent2>
        <a:srgbClr val="F28C28"/>
      </a:accent2>
      <a:accent3>
        <a:srgbClr val="3366C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CF BiGRU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CF BiGRU">
  <a:themeElements>
    <a:clrScheme name="LCF BiGRU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18A999"/>
      </a:accent1>
      <a:accent2>
        <a:srgbClr val="F28C28"/>
      </a:accent2>
      <a:accent3>
        <a:srgbClr val="3366C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CF BiGRU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2765</Words>
  <Application>WPS 演示</Application>
  <PresentationFormat>Converted Presentation</PresentationFormat>
  <Paragraphs>282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LCF BiGRU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四代目玖玖的爱</cp:lastModifiedBy>
  <cp:revision>1</cp:revision>
  <dcterms:created xsi:type="dcterms:W3CDTF">2026-05-12T07:39:21Z</dcterms:created>
  <dcterms:modified xsi:type="dcterms:W3CDTF">2026-05-12T07:39:21Z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44C8EA320D034BA98952BB4DE7F1B6C6_12</vt:lpwstr>
  </property>
</Properties>
</file>